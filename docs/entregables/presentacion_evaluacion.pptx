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Enfatizar el valor de negocio antes del detalle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decisiones: Python, SQLAlchemy, desacoplamiento por capas.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docker compose up --build. Mostrar logs del ETL y etl_execution_log.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Preferir demo en Docker. Tener terminal y navegador listos.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Adaptar discurso: ROI, alertas, decisiones rápidas.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Audiencia técnica: profundizar en correlaciones y outliers.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monitoreo en tiempo real del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Vincular hipótesis con datos de correlación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ramas y PR en GitHub si hay conexión.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477A"/>
                </a:solidFill>
              </a:defRPr>
            </a:pPr>
            <a:r>
              <a:t>Sistema de Monitoreo de Calidad del 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@javier-tc · @roz-ctrl</a:t>
            </a:r>
            <a:br/>
            <a:r>
              <a:t>Evaluación 3 — Programación y Ciencia de Datos</a:t>
            </a:r>
            <a:br/>
            <a:r>
              <a:t>https://github.com/javier-tc/Evaluacion3_ProgramacionCD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7A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1. Contexto y objetivos</a:t>
            </a:r>
          </a:p>
          <a:p>
            <a:pPr>
              <a:spcAft>
                <a:spcPts val="800"/>
              </a:spcAft>
              <a:defRPr sz="1800"/>
            </a:pPr>
            <a:r>
              <a:t>2. Arquitectura y pipeline ETL</a:t>
            </a:r>
          </a:p>
          <a:p>
            <a:pPr>
              <a:spcAft>
                <a:spcPts val="800"/>
              </a:spcAft>
              <a:defRPr sz="1800"/>
            </a:pPr>
            <a:r>
              <a:t>3. Dashboards por audiencia</a:t>
            </a:r>
          </a:p>
          <a:p>
            <a:pPr>
              <a:spcAft>
                <a:spcPts val="800"/>
              </a:spcAft>
              <a:defRPr sz="1800"/>
            </a:pPr>
            <a:r>
              <a:t>4. Docker, Git y testing</a:t>
            </a:r>
          </a:p>
          <a:p>
            <a:pPr>
              <a:spcAft>
                <a:spcPts val="800"/>
              </a:spcAft>
              <a:defRPr sz="1800"/>
            </a:pPr>
            <a:r>
              <a:t>5. Lecciones aprendidas y demo en vivo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7A"/>
                </a:solidFill>
              </a:defRPr>
            </a:pPr>
            <a:r>
              <a:t>Problema y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Santiago enfrenta desafíos de calidad del aire con impacto en salud pública.</a:t>
            </a:r>
          </a:p>
          <a:p>
            <a:pPr>
              <a:spcAft>
                <a:spcPts val="800"/>
              </a:spcAft>
              <a:defRPr sz="1800"/>
            </a:pPr>
            <a:r>
              <a:t>Múltiples audiencias requieren información diferenciada:</a:t>
            </a:r>
          </a:p>
          <a:p>
            <a:pPr>
              <a:spcAft>
                <a:spcPts val="800"/>
              </a:spcAft>
              <a:defRPr sz="1800"/>
            </a:pPr>
            <a:r>
              <a:t>  · Ejecutivos → KPIs y tendencias</a:t>
            </a:r>
          </a:p>
          <a:p>
            <a:pPr>
              <a:spcAft>
                <a:spcPts val="800"/>
              </a:spcAft>
              <a:defRPr sz="1800"/>
            </a:pPr>
            <a:r>
              <a:t>  · Analistas → correlaciones y patrones</a:t>
            </a:r>
          </a:p>
          <a:p>
            <a:pPr>
              <a:spcAft>
                <a:spcPts val="800"/>
              </a:spcAft>
              <a:defRPr sz="1800"/>
            </a:pPr>
            <a:r>
              <a:t>  · Operaciones → estado del pipeline</a:t>
            </a:r>
          </a:p>
          <a:p>
            <a:pPr>
              <a:spcAft>
                <a:spcPts val="800"/>
              </a:spcAft>
              <a:defRPr sz="1800"/>
            </a:pPr>
            <a:r>
              <a:t>  · Autoridad ambiental → validación de hipótesis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7A"/>
                </a:solidFill>
              </a:defRPr>
            </a:pPr>
            <a: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Integrar ≥3 fuentes de datos ambientales y meteorológicos.</a:t>
            </a:r>
          </a:p>
          <a:p>
            <a:pPr>
              <a:spcAft>
                <a:spcPts val="800"/>
              </a:spcAft>
              <a:defRPr sz="1800"/>
            </a:pPr>
            <a:r>
              <a:t>Pipeline ETL robusto con validación y manejo de errores.</a:t>
            </a:r>
          </a:p>
          <a:p>
            <a:pPr>
              <a:spcAft>
                <a:spcPts val="800"/>
              </a:spcAft>
              <a:defRPr sz="1800"/>
            </a:pPr>
            <a:r>
              <a:t>API REST + dashboards interactivos Dash.</a:t>
            </a:r>
          </a:p>
          <a:p>
            <a:pPr>
              <a:spcAft>
                <a:spcPts val="800"/>
              </a:spcAft>
              <a:defRPr sz="1800"/>
            </a:pPr>
            <a:r>
              <a:t>Despliegue reproducible con Docker.</a:t>
            </a:r>
          </a:p>
          <a:p>
            <a:pPr>
              <a:spcAft>
                <a:spcPts val="800"/>
              </a:spcAft>
              <a:defRPr sz="1800"/>
            </a:pPr>
            <a:r>
              <a:t>Colaboración profesional con Git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477A"/>
                </a:solidFill>
              </a:defRPr>
            </a:pPr>
            <a:r>
              <a:t>Arquitectura técnica</a:t>
            </a:r>
          </a:p>
        </p:txBody>
      </p:sp>
      <p:pic>
        <p:nvPicPr>
          <p:cNvPr id="3" name="Picture 2" descr="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029200" cy="20708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005840"/>
            <a:ext cx="3017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FastAPI: capa REST</a:t>
            </a:r>
          </a:p>
          <a:p>
            <a:pPr>
              <a:defRPr sz="1400"/>
            </a:pPr>
            <a:r>
              <a:t>PostgreSQL: almacenamiento</a:t>
            </a:r>
          </a:p>
          <a:p>
            <a:pPr>
              <a:defRPr sz="1400"/>
            </a:pPr>
            <a:r>
              <a:t>Dash: visualización</a:t>
            </a:r>
          </a:p>
          <a:p>
            <a:pPr>
              <a:defRPr sz="1400"/>
            </a:pPr>
            <a:r>
              <a:t>Dashboard NO accede a BD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7A"/>
                </a:solidFill>
              </a:defRPr>
            </a:pPr>
            <a:r>
              <a:t>Fuentes de datos (6)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5 CSV de contaminantes — estación O'Higgins:</a:t>
            </a:r>
          </a:p>
          <a:p>
            <a:pPr>
              <a:spcAft>
                <a:spcPts val="800"/>
              </a:spcAft>
              <a:defRPr sz="1800"/>
            </a:pPr>
            <a:r>
              <a:t>  CO, MP10, MP2.5, NO2, O3</a:t>
            </a:r>
          </a:p>
          <a:p>
            <a:pPr>
              <a:spcAft>
                <a:spcPts val="800"/>
              </a:spcAft>
              <a:defRPr sz="1800"/>
            </a:pPr>
            <a:r>
              <a:t>1 API Open-Meteo ERA5:</a:t>
            </a:r>
          </a:p>
          <a:p>
            <a:pPr>
              <a:spcAft>
                <a:spcPts val="800"/>
              </a:spcAft>
              <a:defRPr sz="1800"/>
            </a:pPr>
            <a:r>
              <a:t>  temperatura, lluvia, viento</a:t>
            </a:r>
          </a:p>
          <a:p>
            <a:pPr>
              <a:spcAft>
                <a:spcPts val="800"/>
              </a:spcAft>
              <a:defRPr sz="1800"/>
            </a:pPr>
            <a:r>
              <a:t>Período: jun 2025 — jun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477A"/>
                </a:solidFill>
              </a:defRPr>
            </a:pPr>
            <a:r>
              <a:t>Pipeline ETL</a:t>
            </a:r>
          </a:p>
        </p:txBody>
      </p:sp>
      <p:pic>
        <p:nvPicPr>
          <p:cNvPr id="3" name="Picture 2" descr="pipeline_e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029200" cy="13380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005840"/>
            <a:ext cx="3017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Extract: CSV + API</a:t>
            </a:r>
          </a:p>
          <a:p>
            <a:pPr>
              <a:defRPr sz="1400"/>
            </a:pPr>
            <a:r>
              <a:t>Transform: agregados</a:t>
            </a:r>
          </a:p>
          <a:p>
            <a:pPr>
              <a:defRPr sz="1400"/>
            </a:pPr>
            <a:r>
              <a:t>Validate: Pydantic + GE</a:t>
            </a:r>
          </a:p>
          <a:p>
            <a:pPr>
              <a:defRPr sz="1400"/>
            </a:pPr>
            <a:r>
              <a:t>Load: PostgreSQL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7A"/>
                </a:solidFill>
              </a:defRPr>
            </a:pPr>
            <a:r>
              <a:t>Transformaciones y 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Coalesce de calidad: validados &gt; preliminares &gt; no validados</a:t>
            </a:r>
          </a:p>
          <a:p>
            <a:pPr>
              <a:spcAft>
                <a:spcPts val="800"/>
              </a:spcAft>
              <a:defRPr sz="1800"/>
            </a:pPr>
            <a:r>
              <a:t>Agregados diarios y mensuales</a:t>
            </a:r>
          </a:p>
          <a:p>
            <a:pPr>
              <a:spcAft>
                <a:spcPts val="800"/>
              </a:spcAft>
              <a:defRPr sz="1800"/>
            </a:pPr>
            <a:r>
              <a:t>Correlaciones Pearson contaminante × clima</a:t>
            </a:r>
          </a:p>
          <a:p>
            <a:pPr>
              <a:spcAft>
                <a:spcPts val="800"/>
              </a:spcAft>
              <a:defRPr sz="1800"/>
            </a:pPr>
            <a:r>
              <a:t>Pydantic: tipos, rangos, coherencia temporal</a:t>
            </a:r>
          </a:p>
          <a:p>
            <a:pPr>
              <a:spcAft>
                <a:spcPts val="800"/>
              </a:spcAft>
              <a:defRPr sz="1800"/>
            </a:pPr>
            <a:r>
              <a:t>Great Expectations: completitud y no-negatividad</a:t>
            </a:r>
          </a:p>
          <a:p>
            <a:pPr>
              <a:spcAft>
                <a:spcPts val="800"/>
              </a:spcAft>
              <a:defRPr sz="1800"/>
            </a:pPr>
            <a:r>
              <a:t>ETL_STRICT_VALIDATION=true aborta carga si falla validación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7A"/>
                </a:solidFill>
              </a:defRPr>
            </a:pPr>
            <a:r>
              <a:t>Demo ETL — Guion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1. ./docker/deploy.ps1 (o docker compose up --build)</a:t>
            </a:r>
          </a:p>
          <a:p>
            <a:pPr>
              <a:spcAft>
                <a:spcPts val="800"/>
              </a:spcAft>
              <a:defRPr sz="1800"/>
            </a:pPr>
            <a:r>
              <a:t>2. Verificar postgres healthy: docker compose ps</a:t>
            </a:r>
          </a:p>
          <a:p>
            <a:pPr>
              <a:spcAft>
                <a:spcPts val="800"/>
              </a:spcAft>
              <a:defRPr sz="1800"/>
            </a:pPr>
            <a:r>
              <a:t>3. Observar logs ETL: docker compose logs etl</a:t>
            </a:r>
          </a:p>
          <a:p>
            <a:pPr>
              <a:spcAft>
                <a:spcPts val="800"/>
              </a:spcAft>
              <a:defRPr sz="1800"/>
            </a:pPr>
            <a:r>
              <a:t>4. Confirmar API: curl localhost:8000/health</a:t>
            </a:r>
          </a:p>
          <a:p>
            <a:pPr>
              <a:spcAft>
                <a:spcPts val="800"/>
              </a:spcAft>
              <a:defRPr sz="1800"/>
            </a:pPr>
            <a:r>
              <a:t>5. Abrir dashboard: localhost:8050</a:t>
            </a:r>
          </a:p>
          <a:p>
            <a:pPr>
              <a:spcAft>
                <a:spcPts val="800"/>
              </a:spcAft>
              <a:defRPr sz="1800"/>
            </a:pPr>
            <a:r>
              <a:t>6. Re-ejecutar ETL: ./docker/deploy.ps1 -EtlOnly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7A"/>
                </a:solidFill>
              </a:defRPr>
            </a:pPr>
            <a:r>
              <a:t>API REST (11 endpoints)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GET /pollution, /daily, /monthly</a:t>
            </a:r>
          </a:p>
          <a:p>
            <a:pPr>
              <a:spcAft>
                <a:spcPts val="800"/>
              </a:spcAft>
              <a:defRPr sz="1800"/>
            </a:pPr>
            <a:r>
              <a:t>GET /weather</a:t>
            </a:r>
          </a:p>
          <a:p>
            <a:pPr>
              <a:spcAft>
                <a:spcPts val="800"/>
              </a:spcAft>
              <a:defRPr sz="1800"/>
            </a:pPr>
            <a:r>
              <a:t>GET /analytics/correlation, /trends, /top-pollution-days</a:t>
            </a:r>
          </a:p>
          <a:p>
            <a:pPr>
              <a:spcAft>
                <a:spcPts val="800"/>
              </a:spcAft>
              <a:defRPr sz="1800"/>
            </a:pPr>
            <a:r>
              <a:t>GET /analytics/annual-averages, /etl-status, /data-quality</a:t>
            </a:r>
          </a:p>
          <a:p>
            <a:pPr>
              <a:spcAft>
                <a:spcPts val="800"/>
              </a:spcAft>
              <a:defRPr sz="1800"/>
            </a:pPr>
            <a:r>
              <a:t>Documentación interactiva: localhost:8000/docs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477A"/>
                </a:solidFill>
              </a:defRPr>
            </a:pPr>
            <a:r>
              <a:t>Dashboard — Vista ejecutiva</a:t>
            </a:r>
          </a:p>
        </p:txBody>
      </p:sp>
      <p:pic>
        <p:nvPicPr>
          <p:cNvPr id="3" name="Picture 2" descr="dashboard_ejecu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029200" cy="29938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005840"/>
            <a:ext cx="3017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5 KPI cards</a:t>
            </a:r>
          </a:p>
          <a:p>
            <a:pPr>
              <a:defRPr sz="1400"/>
            </a:pPr>
            <a:r>
              <a:t>Ranking barras</a:t>
            </a:r>
          </a:p>
          <a:p>
            <a:pPr>
              <a:defRPr sz="1400"/>
            </a:pPr>
            <a:r>
              <a:t>Evolución mensual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477A"/>
                </a:solidFill>
              </a:defRPr>
            </a:pPr>
            <a:r>
              <a:t>Dashboard — Vista analítica</a:t>
            </a:r>
          </a:p>
        </p:txBody>
      </p:sp>
      <p:pic>
        <p:nvPicPr>
          <p:cNvPr id="3" name="Picture 2" descr="dashboard_analit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029200" cy="299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005840"/>
            <a:ext cx="3017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Matriz correlación</a:t>
            </a:r>
          </a:p>
          <a:p>
            <a:pPr>
              <a:defRPr sz="1400"/>
            </a:pPr>
            <a:r>
              <a:t>Scatter plots</a:t>
            </a:r>
          </a:p>
          <a:p>
            <a:pPr>
              <a:defRPr sz="1400"/>
            </a:pPr>
            <a:r>
              <a:t>Estacionalidad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477A"/>
                </a:solidFill>
              </a:defRPr>
            </a:pPr>
            <a:r>
              <a:t>Dashboard — Vista operacional</a:t>
            </a:r>
          </a:p>
        </p:txBody>
      </p:sp>
      <p:pic>
        <p:nvPicPr>
          <p:cNvPr id="3" name="Picture 2" descr="dashboard_oper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029200" cy="29938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005840"/>
            <a:ext cx="3017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Estado API/ETL</a:t>
            </a:r>
          </a:p>
          <a:p>
            <a:pPr>
              <a:defRPr sz="1400"/>
            </a:pPr>
            <a:r>
              <a:t>Calidad datos</a:t>
            </a:r>
          </a:p>
          <a:p>
            <a:pPr>
              <a:defRPr sz="1400"/>
            </a:pPr>
            <a:r>
              <a:t>Refresh 30s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477A"/>
                </a:solidFill>
              </a:defRPr>
            </a:pPr>
            <a:r>
              <a:t>Vista autoridad ambiental</a:t>
            </a:r>
          </a:p>
        </p:txBody>
      </p:sp>
      <p:pic>
        <p:nvPicPr>
          <p:cNvPr id="3" name="Picture 2" descr="dashboard_present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029200" cy="29938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005840"/>
            <a:ext cx="3017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4 hipótesis</a:t>
            </a:r>
          </a:p>
          <a:p>
            <a:pPr>
              <a:defRPr sz="1400"/>
            </a:pPr>
            <a:r>
              <a:t>Hallazgos dinámicos</a:t>
            </a:r>
          </a:p>
          <a:p>
            <a:pPr>
              <a:defRPr sz="1400"/>
            </a:pPr>
            <a:r>
              <a:t>Contexto por contaminante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477A"/>
                </a:solidFill>
              </a:defRPr>
            </a:pPr>
            <a:r>
              <a:t>Docker y despliegue</a:t>
            </a:r>
          </a:p>
        </p:txBody>
      </p:sp>
      <p:pic>
        <p:nvPicPr>
          <p:cNvPr id="3" name="Picture 2" descr="docker_com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029200" cy="1981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005840"/>
            <a:ext cx="3017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4 servicios orquestados</a:t>
            </a:r>
          </a:p>
          <a:p>
            <a:pPr>
              <a:defRPr sz="1400"/>
            </a:pPr>
            <a:r>
              <a:t>Healthchecks encadenados</a:t>
            </a:r>
          </a:p>
          <a:p>
            <a:pPr>
              <a:defRPr sz="1400"/>
            </a:pPr>
            <a:r>
              <a:t>deploy.sh / deploy.ps1</a:t>
            </a:r>
          </a:p>
          <a:p>
            <a:pPr>
              <a:defRPr sz="1400"/>
            </a:pPr>
            <a:r>
              <a:t>.env para configuración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7A"/>
                </a:solidFill>
              </a:defRPr>
            </a:pPr>
            <a:r>
              <a:t>Colaboración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Git Flow: main + develop + feature/*</a:t>
            </a:r>
          </a:p>
          <a:p>
            <a:pPr>
              <a:spcAft>
                <a:spcPts val="800"/>
              </a:spcAft>
              <a:defRPr sz="1800"/>
            </a:pPr>
            <a:r>
              <a:t>Pull Requests con plantilla y checklist</a:t>
            </a:r>
          </a:p>
          <a:p>
            <a:pPr>
              <a:spcAft>
                <a:spcPts val="800"/>
              </a:spcAft>
              <a:defRPr sz="1800"/>
            </a:pPr>
            <a:r>
              <a:t>Convención de commits semánticos</a:t>
            </a:r>
          </a:p>
          <a:p>
            <a:pPr>
              <a:spcAft>
                <a:spcPts val="800"/>
              </a:spcAft>
              <a:defRPr sz="1800"/>
            </a:pPr>
            <a:r>
              <a:t>Integrantes: @javier-tc, @roz-ctrl</a:t>
            </a:r>
          </a:p>
          <a:p>
            <a:pPr>
              <a:spcAft>
                <a:spcPts val="800"/>
              </a:spcAft>
              <a:defRPr sz="1800"/>
            </a:pPr>
            <a:r>
              <a:t>Evidencia: repo/COLABORACION.md, GitHub PRs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7A"/>
                </a:solidFill>
              </a:defRPr>
            </a:pPr>
            <a:r>
              <a:t>Testing y automatización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25 tests pytest — 100% exitosos</a:t>
            </a:r>
          </a:p>
          <a:p>
            <a:pPr>
              <a:spcAft>
                <a:spcPts val="800"/>
              </a:spcAft>
              <a:defRPr sz="1800"/>
            </a:pPr>
            <a:r>
              <a:t>72% cobertura etl/ + api/</a:t>
            </a:r>
          </a:p>
          <a:p>
            <a:pPr>
              <a:spcAft>
                <a:spcPts val="800"/>
              </a:spcAft>
              <a:defRPr sz="1800"/>
            </a:pPr>
            <a:r>
              <a:t>Reporte HTML: reports/coverage/</a:t>
            </a:r>
          </a:p>
          <a:p>
            <a:pPr>
              <a:spcAft>
                <a:spcPts val="800"/>
              </a:spcAft>
              <a:defRPr sz="1800"/>
            </a:pPr>
            <a:r>
              <a:t>Tests: extract, transform, validation, load, API</a:t>
            </a:r>
          </a:p>
          <a:p>
            <a:pPr>
              <a:spcAft>
                <a:spcPts val="800"/>
              </a:spcAft>
              <a:defRPr sz="1800"/>
            </a:pPr>
            <a:r>
              <a:t>Mejora futura: CI/CD con GitHub Actions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7A"/>
                </a:solidFill>
              </a:defRPr>
            </a:pPr>
            <a:r>
              <a:t>Lecciones aprendidas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Docker Compose acelera demos reproducibles en evaluaciones.</a:t>
            </a:r>
          </a:p>
          <a:p>
            <a:pPr>
              <a:spcAft>
                <a:spcPts val="800"/>
              </a:spcAft>
              <a:defRPr sz="1800"/>
            </a:pPr>
            <a:r>
              <a:t>API como capa intermedia simplifica testing del dashboard.</a:t>
            </a:r>
          </a:p>
          <a:p>
            <a:pPr>
              <a:spcAft>
                <a:spcPts val="800"/>
              </a:spcAft>
              <a:defRPr sz="1800"/>
            </a:pPr>
            <a:r>
              <a:t>Validación dual detecta problemas antes de la carga.</a:t>
            </a:r>
          </a:p>
          <a:p>
            <a:pPr>
              <a:spcAft>
                <a:spcPts val="800"/>
              </a:spcAft>
              <a:defRPr sz="1800"/>
            </a:pPr>
            <a:r>
              <a:t>Git Flow documentado mejora coordinación del equipo.</a:t>
            </a:r>
          </a:p>
          <a:p>
            <a:pPr>
              <a:spcAft>
                <a:spcPts val="800"/>
              </a:spcAft>
              <a:defRPr sz="1800"/>
            </a:pPr>
            <a:r>
              <a:t>Pendiente: scheduler ETL, tests E2E, más fuentes en tiempo real.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77A"/>
                </a:solidFill>
              </a:defRPr>
            </a:pPr>
            <a:r>
              <a:t>Cierre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Repositorio: https://github.com/javier-tc/Evaluacion3_ProgramacionCD</a:t>
            </a:r>
          </a:p>
          <a:p>
            <a:pPr>
              <a:spcAft>
                <a:spcPts val="800"/>
              </a:spcAft>
              <a:defRPr sz="1800"/>
            </a:pPr>
            <a:r>
              <a:t>API: http://localhost:8000/docs</a:t>
            </a:r>
          </a:p>
          <a:p>
            <a:pPr>
              <a:spcAft>
                <a:spcPts val="800"/>
              </a:spcAft>
              <a:defRPr sz="1800"/>
            </a:pPr>
            <a:r>
              <a:t>Dashboard: http://localhost:8050</a:t>
            </a:r>
          </a:p>
          <a:p>
            <a:pPr>
              <a:spcAft>
                <a:spcPts val="800"/>
              </a:spcAft>
              <a:defRPr sz="1800"/>
            </a:pPr>
            <a:r>
              <a:t>Informe ejecutivo: docs/entregables/informe_evaluacion.docx</a:t>
            </a:r>
          </a:p>
          <a:p>
            <a:pPr>
              <a:spcAft>
                <a:spcPts val="800"/>
              </a:spcAft>
              <a:defRPr sz="1800"/>
            </a:pPr>
            <a: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